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61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3" autoAdjust="0"/>
    <p:restoredTop sz="94660"/>
  </p:normalViewPr>
  <p:slideViewPr>
    <p:cSldViewPr snapToGrid="0">
      <p:cViewPr>
        <p:scale>
          <a:sx n="75" d="100"/>
          <a:sy n="75" d="100"/>
        </p:scale>
        <p:origin x="100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773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1913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7732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765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880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184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5673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7904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611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755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164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ADD97-FA4F-4F85-9ADA-B95C63D71438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DCE16-E7E2-4747-917D-B6A0054F7FE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3861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Support analysis of noise scenarios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410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degradation of data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496239"/>
              </p:ext>
            </p:extLst>
          </p:nvPr>
        </p:nvGraphicFramePr>
        <p:xfrm>
          <a:off x="1589313" y="1386961"/>
          <a:ext cx="8321041" cy="41249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661411">
                  <a:extLst>
                    <a:ext uri="{9D8B030D-6E8A-4147-A177-3AD203B41FA5}">
                      <a16:colId xmlns:a16="http://schemas.microsoft.com/office/drawing/2014/main" val="1420370964"/>
                    </a:ext>
                  </a:extLst>
                </a:gridCol>
                <a:gridCol w="1131926">
                  <a:extLst>
                    <a:ext uri="{9D8B030D-6E8A-4147-A177-3AD203B41FA5}">
                      <a16:colId xmlns:a16="http://schemas.microsoft.com/office/drawing/2014/main" val="1289401687"/>
                    </a:ext>
                  </a:extLst>
                </a:gridCol>
                <a:gridCol w="1131926">
                  <a:extLst>
                    <a:ext uri="{9D8B030D-6E8A-4147-A177-3AD203B41FA5}">
                      <a16:colId xmlns:a16="http://schemas.microsoft.com/office/drawing/2014/main" val="655830137"/>
                    </a:ext>
                  </a:extLst>
                </a:gridCol>
                <a:gridCol w="1131926">
                  <a:extLst>
                    <a:ext uri="{9D8B030D-6E8A-4147-A177-3AD203B41FA5}">
                      <a16:colId xmlns:a16="http://schemas.microsoft.com/office/drawing/2014/main" val="3675305504"/>
                    </a:ext>
                  </a:extLst>
                </a:gridCol>
                <a:gridCol w="1131926">
                  <a:extLst>
                    <a:ext uri="{9D8B030D-6E8A-4147-A177-3AD203B41FA5}">
                      <a16:colId xmlns:a16="http://schemas.microsoft.com/office/drawing/2014/main" val="974710626"/>
                    </a:ext>
                  </a:extLst>
                </a:gridCol>
                <a:gridCol w="1131926">
                  <a:extLst>
                    <a:ext uri="{9D8B030D-6E8A-4147-A177-3AD203B41FA5}">
                      <a16:colId xmlns:a16="http://schemas.microsoft.com/office/drawing/2014/main" val="557182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“Parameters”/data “degradation”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75%</a:t>
                      </a:r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50%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25%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96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Nb</a:t>
                      </a:r>
                      <a:r>
                        <a:rPr lang="en-US" dirty="0" smtClean="0"/>
                        <a:t> of sites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2000</a:t>
                      </a:r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52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Nb</a:t>
                      </a:r>
                      <a:r>
                        <a:rPr lang="en-US" dirty="0" smtClean="0"/>
                        <a:t> of</a:t>
                      </a:r>
                      <a:r>
                        <a:rPr lang="en-US" baseline="0" dirty="0" smtClean="0"/>
                        <a:t> missing</a:t>
                      </a:r>
                      <a:r>
                        <a:rPr lang="en-US" dirty="0" smtClean="0"/>
                        <a:t>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153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Noise on temperature</a:t>
                      </a:r>
                      <a:r>
                        <a:rPr lang="en-US" baseline="0" dirty="0" smtClean="0"/>
                        <a:t> </a:t>
                      </a:r>
                      <a:br>
                        <a:rPr lang="en-US" baseline="0" dirty="0" smtClean="0"/>
                      </a:br>
                      <a:r>
                        <a:rPr lang="en-US" baseline="0" dirty="0" smtClean="0"/>
                        <a:t>(</a:t>
                      </a:r>
                      <a:r>
                        <a:rPr lang="en-GB" sz="1800" dirty="0" smtClean="0">
                          <a:effectLst/>
                          <a:sym typeface="Symbol" panose="05050102010706020507" pitchFamily="18" charset="2"/>
                        </a:rPr>
                        <a:t></a:t>
                      </a:r>
                      <a:r>
                        <a:rPr lang="en-GB" sz="1800" dirty="0" smtClean="0">
                          <a:effectLst/>
                        </a:rPr>
                        <a:t> = degree)</a:t>
                      </a:r>
                      <a:endParaRPr lang="en-US" sz="28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1.5</a:t>
                      </a:r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4.5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Misdetection 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(</a:t>
                      </a:r>
                      <a:r>
                        <a:rPr lang="en-GB" sz="1800" dirty="0" smtClean="0">
                          <a:effectLst/>
                        </a:rPr>
                        <a:t>% of presences randomly turned into absences</a:t>
                      </a:r>
                      <a:r>
                        <a:rPr lang="en-US" sz="1800" dirty="0" smtClean="0">
                          <a:effectLst/>
                        </a:rPr>
                        <a:t>)</a:t>
                      </a:r>
                      <a:endParaRPr lang="en-US" sz="28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542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Abs. due to dispersal 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(</a:t>
                      </a:r>
                      <a:r>
                        <a:rPr lang="en-GB" sz="1800" dirty="0" smtClean="0">
                          <a:effectLst/>
                        </a:rPr>
                        <a:t>NA points due to dispersal limitation turned into absences)</a:t>
                      </a:r>
                      <a:endParaRPr lang="en-US" sz="28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yes/no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yes/no</a:t>
                      </a:r>
                    </a:p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yes/no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yes/no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05444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02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Dispersal limitation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we want to assess the impact of absences due to dispersal limitation (NAs), we will compare different dataset sizes</a:t>
            </a:r>
          </a:p>
          <a:p>
            <a:r>
              <a:rPr lang="en-US" dirty="0" smtClean="0"/>
              <a:t>If </a:t>
            </a:r>
            <a:r>
              <a:rPr lang="en-US" dirty="0" err="1"/>
              <a:t>na.to.absence</a:t>
            </a:r>
            <a:r>
              <a:rPr lang="en-US" dirty="0"/>
              <a:t> </a:t>
            </a:r>
            <a:r>
              <a:rPr lang="en-US" dirty="0" smtClean="0"/>
              <a:t>= T, we test add noise due to dispersal limitation, in other words we transform </a:t>
            </a:r>
            <a:r>
              <a:rPr lang="en-US" dirty="0" err="1" smtClean="0"/>
              <a:t>Nas</a:t>
            </a:r>
            <a:r>
              <a:rPr lang="en-US" dirty="0" smtClean="0"/>
              <a:t> in 0</a:t>
            </a:r>
          </a:p>
          <a:p>
            <a:r>
              <a:rPr lang="en-US" dirty="0" smtClean="0"/>
              <a:t>If </a:t>
            </a:r>
            <a:r>
              <a:rPr lang="en-US" dirty="0" err="1"/>
              <a:t>na.to.absence</a:t>
            </a:r>
            <a:r>
              <a:rPr lang="en-US" dirty="0"/>
              <a:t> </a:t>
            </a:r>
            <a:r>
              <a:rPr lang="en-US" dirty="0" smtClean="0"/>
              <a:t>= F, we have no “false” information coming from dispersal limitation, so we remove NAs per taxa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89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26911" y="454175"/>
            <a:ext cx="1876722" cy="341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000">
                <a:solidFill>
                  <a:schemeClr val="bg1"/>
                </a:solidFill>
                <a:latin typeface="Galvji" panose="020B05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 smtClean="0">
                <a:solidFill>
                  <a:schemeClr val="tx1"/>
                </a:solidFill>
              </a:rPr>
              <a:t>Input Data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77080" y="399553"/>
            <a:ext cx="1391919" cy="461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000" b="1">
                <a:solidFill>
                  <a:schemeClr val="tx1"/>
                </a:solidFill>
                <a:latin typeface="Galvji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Models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2243" y="430330"/>
            <a:ext cx="1782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Galvji" panose="020B0504020202020204" pitchFamily="34" charset="0"/>
                <a:cs typeface="Arial" panose="020B0604020202020204" pitchFamily="34" charset="0"/>
              </a:rPr>
              <a:t>Output Data</a:t>
            </a:r>
            <a:endParaRPr lang="en-US" sz="2400" b="1" dirty="0">
              <a:latin typeface="Galvji" panose="020B05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2547087" y="1035646"/>
            <a:ext cx="8251906" cy="1463040"/>
            <a:chOff x="2724887" y="1665651"/>
            <a:chExt cx="8251906" cy="1463040"/>
          </a:xfrm>
          <a:solidFill>
            <a:schemeClr val="bg2">
              <a:lumMod val="50000"/>
            </a:schemeClr>
          </a:solidFill>
        </p:grpSpPr>
        <p:sp>
          <p:nvSpPr>
            <p:cNvPr id="10" name="Chevron 9"/>
            <p:cNvSpPr/>
            <p:nvPr/>
          </p:nvSpPr>
          <p:spPr>
            <a:xfrm>
              <a:off x="5524960" y="1665651"/>
              <a:ext cx="2651760" cy="1463040"/>
            </a:xfrm>
            <a:prstGeom prst="chevron">
              <a:avLst>
                <a:gd name="adj" fmla="val 1419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</a:pPr>
              <a:r>
                <a:rPr lang="en-US" sz="1600" b="1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Streambugs</a:t>
              </a:r>
            </a:p>
            <a:p>
              <a:pPr marL="285750" indent="-173038">
                <a:buFont typeface="Arial" panose="020B0604020202020204" pitchFamily="34" charset="0"/>
                <a:buChar char="•"/>
                <a:tabLst>
                  <a:tab pos="1250950" algn="l"/>
                </a:tabLst>
              </a:pPr>
              <a:r>
                <a:rPr lang="en-US" sz="14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biotic </a:t>
              </a:r>
              <a:r>
                <a:rPr lang="en-US" sz="14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interactions</a:t>
              </a:r>
            </a:p>
            <a:p>
              <a:pPr marL="285750" indent="-173038">
                <a:buFont typeface="Arial" panose="020B0604020202020204" pitchFamily="34" charset="0"/>
                <a:buChar char="•"/>
                <a:tabLst>
                  <a:tab pos="1250950" algn="l"/>
                </a:tabLst>
              </a:pPr>
              <a:r>
                <a:rPr lang="en-US" sz="14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ecological </a:t>
              </a:r>
              <a:r>
                <a:rPr lang="en-US" sz="14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preferences</a:t>
              </a:r>
            </a:p>
            <a:p>
              <a:pPr marL="285750" indent="-173038">
                <a:buFont typeface="Arial" panose="020B0604020202020204" pitchFamily="34" charset="0"/>
                <a:buChar char="•"/>
                <a:tabLst>
                  <a:tab pos="1250950" algn="l"/>
                </a:tabLst>
              </a:pPr>
              <a:r>
                <a:rPr lang="en-US" sz="14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dispersal </a:t>
              </a:r>
              <a:r>
                <a:rPr lang="en-US" sz="14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limitation</a:t>
              </a:r>
              <a:endParaRPr lang="en-US" sz="1400" dirty="0">
                <a:solidFill>
                  <a:schemeClr val="bg1"/>
                </a:solidFill>
                <a:latin typeface="Galvji" panose="020B05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Pentagon 12"/>
            <p:cNvSpPr/>
            <p:nvPr/>
          </p:nvSpPr>
          <p:spPr>
            <a:xfrm>
              <a:off x="8325033" y="1665651"/>
              <a:ext cx="2651760" cy="1463040"/>
            </a:xfrm>
            <a:custGeom>
              <a:avLst/>
              <a:gdLst>
                <a:gd name="connsiteX0" fmla="*/ 0 w 2651760"/>
                <a:gd name="connsiteY0" fmla="*/ 0 h 1463040"/>
                <a:gd name="connsiteX1" fmla="*/ 2445179 w 2651760"/>
                <a:gd name="connsiteY1" fmla="*/ 0 h 1463040"/>
                <a:gd name="connsiteX2" fmla="*/ 2651760 w 2651760"/>
                <a:gd name="connsiteY2" fmla="*/ 731520 h 1463040"/>
                <a:gd name="connsiteX3" fmla="*/ 2445179 w 2651760"/>
                <a:gd name="connsiteY3" fmla="*/ 1463040 h 1463040"/>
                <a:gd name="connsiteX4" fmla="*/ 0 w 2651760"/>
                <a:gd name="connsiteY4" fmla="*/ 1463040 h 1463040"/>
                <a:gd name="connsiteX5" fmla="*/ 206581 w 2651760"/>
                <a:gd name="connsiteY5" fmla="*/ 731520 h 1463040"/>
                <a:gd name="connsiteX6" fmla="*/ 0 w 2651760"/>
                <a:gd name="connsiteY6" fmla="*/ 0 h 1463040"/>
                <a:gd name="connsiteX0" fmla="*/ 0 w 2473960"/>
                <a:gd name="connsiteY0" fmla="*/ 0 h 1463040"/>
                <a:gd name="connsiteX1" fmla="*/ 2445179 w 2473960"/>
                <a:gd name="connsiteY1" fmla="*/ 0 h 1463040"/>
                <a:gd name="connsiteX2" fmla="*/ 2473960 w 2473960"/>
                <a:gd name="connsiteY2" fmla="*/ 773853 h 1463040"/>
                <a:gd name="connsiteX3" fmla="*/ 2445179 w 2473960"/>
                <a:gd name="connsiteY3" fmla="*/ 1463040 h 1463040"/>
                <a:gd name="connsiteX4" fmla="*/ 0 w 2473960"/>
                <a:gd name="connsiteY4" fmla="*/ 1463040 h 1463040"/>
                <a:gd name="connsiteX5" fmla="*/ 206581 w 2473960"/>
                <a:gd name="connsiteY5" fmla="*/ 731520 h 1463040"/>
                <a:gd name="connsiteX6" fmla="*/ 0 w 2473960"/>
                <a:gd name="connsiteY6" fmla="*/ 0 h 1463040"/>
                <a:gd name="connsiteX0" fmla="*/ 0 w 2445179"/>
                <a:gd name="connsiteY0" fmla="*/ 0 h 1463040"/>
                <a:gd name="connsiteX1" fmla="*/ 2445179 w 2445179"/>
                <a:gd name="connsiteY1" fmla="*/ 0 h 1463040"/>
                <a:gd name="connsiteX2" fmla="*/ 2445179 w 2445179"/>
                <a:gd name="connsiteY2" fmla="*/ 1463040 h 1463040"/>
                <a:gd name="connsiteX3" fmla="*/ 0 w 2445179"/>
                <a:gd name="connsiteY3" fmla="*/ 1463040 h 1463040"/>
                <a:gd name="connsiteX4" fmla="*/ 206581 w 2445179"/>
                <a:gd name="connsiteY4" fmla="*/ 731520 h 1463040"/>
                <a:gd name="connsiteX5" fmla="*/ 0 w 2445179"/>
                <a:gd name="connsiteY5" fmla="*/ 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45179" h="1463040">
                  <a:moveTo>
                    <a:pt x="0" y="0"/>
                  </a:moveTo>
                  <a:lnTo>
                    <a:pt x="2445179" y="0"/>
                  </a:lnTo>
                  <a:lnTo>
                    <a:pt x="2445179" y="1463040"/>
                  </a:lnTo>
                  <a:lnTo>
                    <a:pt x="0" y="1463040"/>
                  </a:lnTo>
                  <a:lnTo>
                    <a:pt x="206581" y="7315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algn="ctr"/>
              <a: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presence-absence </a:t>
              </a:r>
              <a:r>
                <a:rPr lang="en-US" sz="16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/>
              </a:r>
              <a:br>
                <a:rPr lang="en-US" sz="16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</a:br>
              <a: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35 </a:t>
              </a:r>
              <a: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virtual </a:t>
              </a:r>
              <a: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taxa</a:t>
              </a:r>
              <a:endParaRPr lang="en-US" sz="1600" dirty="0">
                <a:solidFill>
                  <a:schemeClr val="bg1"/>
                </a:solidFill>
                <a:latin typeface="Galvji" panose="020B05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Pentagon 14"/>
            <p:cNvSpPr/>
            <p:nvPr/>
          </p:nvSpPr>
          <p:spPr>
            <a:xfrm>
              <a:off x="2724887" y="1665651"/>
              <a:ext cx="2651760" cy="1463040"/>
            </a:xfrm>
            <a:prstGeom prst="homePlate">
              <a:avLst>
                <a:gd name="adj" fmla="val 171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8</a:t>
              </a:r>
              <a: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environmental </a:t>
              </a:r>
              <a: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/>
              </a:r>
              <a:b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</a:br>
              <a: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predictors</a:t>
              </a:r>
              <a:endParaRPr lang="en-US" sz="1600" dirty="0">
                <a:solidFill>
                  <a:schemeClr val="bg1"/>
                </a:solidFill>
                <a:latin typeface="Galvji" panose="020B05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1" name="Connecteur droit 4">
            <a:extLst>
              <a:ext uri="{FF2B5EF4-FFF2-40B4-BE49-F238E27FC236}">
                <a16:creationId xmlns:a16="http://schemas.microsoft.com/office/drawing/2014/main" id="{A5601D80-9D67-4C3D-5DAF-C6FDFAF80ECD}"/>
              </a:ext>
            </a:extLst>
          </p:cNvPr>
          <p:cNvCxnSpPr>
            <a:cxnSpLocks/>
          </p:cNvCxnSpPr>
          <p:nvPr/>
        </p:nvCxnSpPr>
        <p:spPr>
          <a:xfrm>
            <a:off x="2238695" y="500238"/>
            <a:ext cx="0" cy="52318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5508" y="1337413"/>
            <a:ext cx="16102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Galvji" panose="020B0504020202020204" pitchFamily="34" charset="77"/>
                <a:cs typeface="Arial" panose="020B0604020202020204" pitchFamily="34" charset="0"/>
              </a:rPr>
              <a:t>Artificial Data</a:t>
            </a:r>
          </a:p>
          <a:p>
            <a:r>
              <a:rPr lang="en-US" sz="2000" b="1" dirty="0" smtClean="0">
                <a:latin typeface="Galvji" panose="020B0504020202020204" pitchFamily="34" charset="77"/>
                <a:cs typeface="Arial" panose="020B0604020202020204" pitchFamily="34" charset="0"/>
              </a:rPr>
              <a:t>Generation</a:t>
            </a:r>
            <a:endParaRPr lang="en-US" sz="2000" b="1" dirty="0">
              <a:latin typeface="Galvji" panose="020B0504020202020204" pitchFamily="34" charset="77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5508" y="2882314"/>
            <a:ext cx="16102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Galvji" panose="020B0504020202020204" pitchFamily="34" charset="77"/>
                <a:cs typeface="Arial" panose="020B0604020202020204" pitchFamily="34" charset="0"/>
              </a:rPr>
              <a:t>Data Limitation</a:t>
            </a:r>
          </a:p>
          <a:p>
            <a:r>
              <a:rPr lang="en-US" sz="2000" b="1" dirty="0" smtClean="0">
                <a:latin typeface="Galvji" panose="020B0504020202020204" pitchFamily="34" charset="77"/>
                <a:cs typeface="Arial" panose="020B0604020202020204" pitchFamily="34" charset="0"/>
              </a:rPr>
              <a:t>Scenarios</a:t>
            </a:r>
            <a:endParaRPr lang="en-US" b="1" dirty="0">
              <a:latin typeface="Galvji" panose="020B0504020202020204" pitchFamily="34" charset="77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8401" y="4639115"/>
            <a:ext cx="16102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Galvji" panose="020B0504020202020204" pitchFamily="34" charset="77"/>
                <a:cs typeface="Arial" panose="020B0604020202020204" pitchFamily="34" charset="0"/>
              </a:rPr>
              <a:t>SDMs Evaluation</a:t>
            </a:r>
            <a:endParaRPr lang="en-US" b="1" dirty="0">
              <a:latin typeface="Galvji" panose="020B0504020202020204" pitchFamily="34" charset="77"/>
              <a:cs typeface="Arial" panose="020B0604020202020204" pitchFamily="34" charset="0"/>
            </a:endParaRPr>
          </a:p>
        </p:txBody>
      </p:sp>
      <p:cxnSp>
        <p:nvCxnSpPr>
          <p:cNvPr id="43" name="Connecteur droit 8">
            <a:extLst>
              <a:ext uri="{FF2B5EF4-FFF2-40B4-BE49-F238E27FC236}">
                <a16:creationId xmlns:a16="http://schemas.microsoft.com/office/drawing/2014/main" id="{4BB7996A-92C0-B07B-0850-938073871F4A}"/>
              </a:ext>
            </a:extLst>
          </p:cNvPr>
          <p:cNvCxnSpPr/>
          <p:nvPr/>
        </p:nvCxnSpPr>
        <p:spPr>
          <a:xfrm>
            <a:off x="628401" y="835108"/>
            <a:ext cx="101498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2494066" y="4261538"/>
            <a:ext cx="8304927" cy="1470532"/>
            <a:chOff x="2671866" y="4601128"/>
            <a:chExt cx="8304927" cy="1470532"/>
          </a:xfrm>
          <a:solidFill>
            <a:schemeClr val="bg2">
              <a:lumMod val="50000"/>
            </a:schemeClr>
          </a:solidFill>
        </p:grpSpPr>
        <p:grpSp>
          <p:nvGrpSpPr>
            <p:cNvPr id="18" name="Group 17"/>
            <p:cNvGrpSpPr/>
            <p:nvPr/>
          </p:nvGrpSpPr>
          <p:grpSpPr>
            <a:xfrm>
              <a:off x="2671866" y="4601128"/>
              <a:ext cx="8304927" cy="1470532"/>
              <a:chOff x="1998102" y="4708544"/>
              <a:chExt cx="8304927" cy="1470532"/>
            </a:xfrm>
            <a:grpFill/>
          </p:grpSpPr>
          <p:sp>
            <p:nvSpPr>
              <p:cNvPr id="21" name="Chevron 20"/>
              <p:cNvSpPr/>
              <p:nvPr/>
            </p:nvSpPr>
            <p:spPr>
              <a:xfrm>
                <a:off x="4851196" y="4716036"/>
                <a:ext cx="2651760" cy="1463040"/>
              </a:xfrm>
              <a:prstGeom prst="chevron">
                <a:avLst>
                  <a:gd name="adj" fmla="val 1549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1200"/>
                  </a:spcAft>
                </a:pPr>
                <a: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Species Distribution Models (SDMs)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US" sz="1600" b="1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GLM, GAM, RF, ANN</a:t>
                </a:r>
              </a:p>
            </p:txBody>
          </p:sp>
          <p:sp>
            <p:nvSpPr>
              <p:cNvPr id="24" name="Chevron 23"/>
              <p:cNvSpPr/>
              <p:nvPr/>
            </p:nvSpPr>
            <p:spPr>
              <a:xfrm>
                <a:off x="7651269" y="4708544"/>
                <a:ext cx="2651760" cy="1463040"/>
              </a:xfrm>
              <a:custGeom>
                <a:avLst/>
                <a:gdLst>
                  <a:gd name="connsiteX0" fmla="*/ 0 w 2651760"/>
                  <a:gd name="connsiteY0" fmla="*/ 0 h 1463040"/>
                  <a:gd name="connsiteX1" fmla="*/ 2434586 w 2651760"/>
                  <a:gd name="connsiteY1" fmla="*/ 0 h 1463040"/>
                  <a:gd name="connsiteX2" fmla="*/ 2651760 w 2651760"/>
                  <a:gd name="connsiteY2" fmla="*/ 731520 h 1463040"/>
                  <a:gd name="connsiteX3" fmla="*/ 2434586 w 2651760"/>
                  <a:gd name="connsiteY3" fmla="*/ 1463040 h 1463040"/>
                  <a:gd name="connsiteX4" fmla="*/ 0 w 2651760"/>
                  <a:gd name="connsiteY4" fmla="*/ 1463040 h 1463040"/>
                  <a:gd name="connsiteX5" fmla="*/ 217174 w 2651760"/>
                  <a:gd name="connsiteY5" fmla="*/ 731520 h 1463040"/>
                  <a:gd name="connsiteX6" fmla="*/ 0 w 2651760"/>
                  <a:gd name="connsiteY6" fmla="*/ 0 h 1463040"/>
                  <a:gd name="connsiteX0" fmla="*/ 0 w 2434586"/>
                  <a:gd name="connsiteY0" fmla="*/ 0 h 1463040"/>
                  <a:gd name="connsiteX1" fmla="*/ 2434586 w 2434586"/>
                  <a:gd name="connsiteY1" fmla="*/ 0 h 1463040"/>
                  <a:gd name="connsiteX2" fmla="*/ 2434586 w 2434586"/>
                  <a:gd name="connsiteY2" fmla="*/ 1463040 h 1463040"/>
                  <a:gd name="connsiteX3" fmla="*/ 0 w 2434586"/>
                  <a:gd name="connsiteY3" fmla="*/ 1463040 h 1463040"/>
                  <a:gd name="connsiteX4" fmla="*/ 217174 w 2434586"/>
                  <a:gd name="connsiteY4" fmla="*/ 731520 h 1463040"/>
                  <a:gd name="connsiteX5" fmla="*/ 0 w 2434586"/>
                  <a:gd name="connsiteY5" fmla="*/ 0 h 1463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34586" h="1463040">
                    <a:moveTo>
                      <a:pt x="0" y="0"/>
                    </a:moveTo>
                    <a:lnTo>
                      <a:pt x="2434586" y="0"/>
                    </a:lnTo>
                    <a:lnTo>
                      <a:pt x="2434586" y="1463040"/>
                    </a:lnTo>
                    <a:lnTo>
                      <a:pt x="0" y="1463040"/>
                    </a:lnTo>
                    <a:lnTo>
                      <a:pt x="217174" y="73152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robability of </a:t>
                </a:r>
                <a:b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</a:br>
                <a: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occurrence</a:t>
                </a:r>
                <a:endParaRPr lang="en-US" sz="16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Pentagon 25"/>
              <p:cNvSpPr/>
              <p:nvPr/>
            </p:nvSpPr>
            <p:spPr>
              <a:xfrm>
                <a:off x="1998102" y="5493276"/>
                <a:ext cx="2651760" cy="685800"/>
              </a:xfrm>
              <a:prstGeom prst="homePlate">
                <a:avLst>
                  <a:gd name="adj" fmla="val 16009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environmental </a:t>
                </a:r>
                <a:b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</a:br>
                <a: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predictors</a:t>
                </a:r>
              </a:p>
            </p:txBody>
          </p:sp>
        </p:grpSp>
        <p:sp>
          <p:nvSpPr>
            <p:cNvPr id="44" name="Pentagon 43"/>
            <p:cNvSpPr/>
            <p:nvPr/>
          </p:nvSpPr>
          <p:spPr>
            <a:xfrm>
              <a:off x="2671866" y="4604431"/>
              <a:ext cx="2651760" cy="685800"/>
            </a:xfrm>
            <a:prstGeom prst="homePlate">
              <a:avLst>
                <a:gd name="adj" fmla="val 1600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resence-absence virtual taxa</a:t>
              </a:r>
              <a:endParaRPr lang="en-US" sz="1600" dirty="0">
                <a:solidFill>
                  <a:schemeClr val="bg1"/>
                </a:solidFill>
                <a:latin typeface="Galvji" panose="020B05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547087" y="2703891"/>
            <a:ext cx="8251906" cy="1371600"/>
            <a:chOff x="2413731" y="2686335"/>
            <a:chExt cx="7406640" cy="1463040"/>
          </a:xfrm>
        </p:grpSpPr>
        <p:grpSp>
          <p:nvGrpSpPr>
            <p:cNvPr id="6" name="Group 5"/>
            <p:cNvGrpSpPr/>
            <p:nvPr/>
          </p:nvGrpSpPr>
          <p:grpSpPr>
            <a:xfrm>
              <a:off x="2413731" y="2686335"/>
              <a:ext cx="7406640" cy="1463040"/>
              <a:chOff x="3059973" y="3088659"/>
              <a:chExt cx="7406640" cy="1463040"/>
            </a:xfrm>
            <a:solidFill>
              <a:schemeClr val="bg2">
                <a:lumMod val="50000"/>
              </a:schemeClr>
            </a:solidFill>
          </p:grpSpPr>
          <p:grpSp>
            <p:nvGrpSpPr>
              <p:cNvPr id="32" name="Group 31"/>
              <p:cNvGrpSpPr/>
              <p:nvPr/>
            </p:nvGrpSpPr>
            <p:grpSpPr>
              <a:xfrm>
                <a:off x="3059973" y="3088659"/>
                <a:ext cx="7406640" cy="1463040"/>
                <a:chOff x="2605232" y="3350553"/>
                <a:chExt cx="6077359" cy="1052514"/>
              </a:xfrm>
              <a:grpFill/>
            </p:grpSpPr>
            <p:sp>
              <p:nvSpPr>
                <p:cNvPr id="27" name="Pentagon 26"/>
                <p:cNvSpPr/>
                <p:nvPr/>
              </p:nvSpPr>
              <p:spPr>
                <a:xfrm rot="5400000">
                  <a:off x="5117655" y="838130"/>
                  <a:ext cx="1052514" cy="6077359"/>
                </a:xfrm>
                <a:prstGeom prst="homePlate">
                  <a:avLst>
                    <a:gd name="adj" fmla="val 3060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2854277" y="3448949"/>
                  <a:ext cx="2408992" cy="24355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1600" dirty="0" smtClean="0">
                      <a:solidFill>
                        <a:schemeClr val="bg1"/>
                      </a:solidFill>
                      <a:latin typeface="Galvji" panose="020B0504020202020204" pitchFamily="34" charset="0"/>
                      <a:cs typeface="Arial" panose="020B0604020202020204" pitchFamily="34" charset="0"/>
                    </a:rPr>
                    <a:t>1. reduce 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Galvji" panose="020B0504020202020204" pitchFamily="34" charset="0"/>
                      <a:cs typeface="Arial" panose="020B0604020202020204" pitchFamily="34" charset="0"/>
                    </a:rPr>
                    <a:t>dataset </a:t>
                  </a:r>
                  <a:r>
                    <a:rPr lang="en-US" sz="1600" dirty="0" smtClean="0">
                      <a:solidFill>
                        <a:schemeClr val="bg1"/>
                      </a:solidFill>
                      <a:latin typeface="Galvji" panose="020B0504020202020204" pitchFamily="34" charset="0"/>
                      <a:cs typeface="Arial" panose="020B0604020202020204" pitchFamily="34" charset="0"/>
                    </a:rPr>
                    <a:t>size</a:t>
                  </a:r>
                  <a:endParaRPr lang="en-US" sz="1600" dirty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4770694" y="3449055"/>
                  <a:ext cx="2308766" cy="24355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1600" dirty="0" smtClean="0">
                      <a:solidFill>
                        <a:schemeClr val="bg1"/>
                      </a:solidFill>
                      <a:latin typeface="Galvji" panose="020B0504020202020204" pitchFamily="34" charset="0"/>
                      <a:cs typeface="Arial" panose="020B0604020202020204" pitchFamily="34" charset="0"/>
                    </a:rPr>
                    <a:t>2. remove predictors</a:t>
                  </a:r>
                  <a:endParaRPr lang="en-US" sz="1600" dirty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6639028" y="3448949"/>
                  <a:ext cx="2043563" cy="243556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1600" dirty="0" smtClean="0">
                      <a:solidFill>
                        <a:schemeClr val="bg1"/>
                      </a:solidFill>
                      <a:latin typeface="Galvji" panose="020B0504020202020204" pitchFamily="34" charset="0"/>
                      <a:cs typeface="Arial" panose="020B0604020202020204" pitchFamily="34" charset="0"/>
                    </a:rPr>
                    <a:t>3. add 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Galvji" panose="020B0504020202020204" pitchFamily="34" charset="0"/>
                      <a:cs typeface="Arial" panose="020B0604020202020204" pitchFamily="34" charset="0"/>
                    </a:rPr>
                    <a:t>noise on predictor</a:t>
                  </a:r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3782511" y="3700766"/>
                <a:ext cx="3198746" cy="361124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4. add </a:t>
                </a:r>
                <a: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bias </a:t>
                </a:r>
                <a:r>
                  <a:rPr lang="en-US" sz="1600" dirty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on </a:t>
                </a:r>
                <a: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response </a:t>
                </a:r>
                <a:r>
                  <a:rPr lang="en-US" sz="1600" dirty="0" smtClean="0">
                    <a:solidFill>
                      <a:schemeClr val="bg1"/>
                    </a:solidFill>
                    <a:latin typeface="Galvji" panose="020B0504020202020204" pitchFamily="34" charset="0"/>
                    <a:cs typeface="Arial" panose="020B0604020202020204" pitchFamily="34" charset="0"/>
                  </a:rPr>
                  <a:t>variables</a:t>
                </a:r>
                <a:endParaRPr lang="en-US" sz="16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6459715" y="3298442"/>
              <a:ext cx="2771913" cy="33855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600" dirty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5</a:t>
              </a:r>
              <a:r>
                <a:rPr lang="en-US" sz="1600" dirty="0" smtClean="0">
                  <a:solidFill>
                    <a:schemeClr val="bg1"/>
                  </a:solidFill>
                  <a:latin typeface="Galvji" panose="020B0504020202020204" pitchFamily="34" charset="0"/>
                  <a:cs typeface="Arial" panose="020B0604020202020204" pitchFamily="34" charset="0"/>
                </a:rPr>
                <a:t>. all scenarios combined</a:t>
              </a:r>
              <a:endParaRPr lang="en-US" sz="1600" dirty="0">
                <a:solidFill>
                  <a:schemeClr val="bg1"/>
                </a:solidFill>
                <a:latin typeface="Galvji" panose="020B05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075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Galvji</vt:lpstr>
      <vt:lpstr>Symbol</vt:lpstr>
      <vt:lpstr>Times New Roman</vt:lpstr>
      <vt:lpstr>Office Theme</vt:lpstr>
      <vt:lpstr>Support analysis of noise scenarios</vt:lpstr>
      <vt:lpstr>Continuous degradation of data</vt:lpstr>
      <vt:lpstr>Dispersal limitation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annalysis of nois</dc:title>
  <dc:creator>Chollet Ramampiandra, Emma</dc:creator>
  <cp:lastModifiedBy>Chollet Ramampiandra, Emma</cp:lastModifiedBy>
  <cp:revision>22</cp:revision>
  <dcterms:created xsi:type="dcterms:W3CDTF">2024-03-30T16:47:27Z</dcterms:created>
  <dcterms:modified xsi:type="dcterms:W3CDTF">2025-11-06T14:40:37Z</dcterms:modified>
</cp:coreProperties>
</file>