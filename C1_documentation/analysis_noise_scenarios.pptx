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61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11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de-C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7730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21913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77328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47653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800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3184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56734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79044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6115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755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61646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de-C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e-C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CADD97-FA4F-4F85-9ADA-B95C63D71438}" type="datetimeFigureOut">
              <a:rPr lang="de-CH" smtClean="0"/>
              <a:t>01.07.2025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BDCE16-E7E2-4747-917D-B6A0054F7FE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3861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Support analysis of noise scenarios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44102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Continuous degradation of data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4496239"/>
              </p:ext>
            </p:extLst>
          </p:nvPr>
        </p:nvGraphicFramePr>
        <p:xfrm>
          <a:off x="1589313" y="1386961"/>
          <a:ext cx="8321041" cy="412496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2661411">
                  <a:extLst>
                    <a:ext uri="{9D8B030D-6E8A-4147-A177-3AD203B41FA5}">
                      <a16:colId xmlns:a16="http://schemas.microsoft.com/office/drawing/2014/main" val="1420370964"/>
                    </a:ext>
                  </a:extLst>
                </a:gridCol>
                <a:gridCol w="1131926">
                  <a:extLst>
                    <a:ext uri="{9D8B030D-6E8A-4147-A177-3AD203B41FA5}">
                      <a16:colId xmlns:a16="http://schemas.microsoft.com/office/drawing/2014/main" val="1289401687"/>
                    </a:ext>
                  </a:extLst>
                </a:gridCol>
                <a:gridCol w="1131926">
                  <a:extLst>
                    <a:ext uri="{9D8B030D-6E8A-4147-A177-3AD203B41FA5}">
                      <a16:colId xmlns:a16="http://schemas.microsoft.com/office/drawing/2014/main" val="655830137"/>
                    </a:ext>
                  </a:extLst>
                </a:gridCol>
                <a:gridCol w="1131926">
                  <a:extLst>
                    <a:ext uri="{9D8B030D-6E8A-4147-A177-3AD203B41FA5}">
                      <a16:colId xmlns:a16="http://schemas.microsoft.com/office/drawing/2014/main" val="3675305504"/>
                    </a:ext>
                  </a:extLst>
                </a:gridCol>
                <a:gridCol w="1131926">
                  <a:extLst>
                    <a:ext uri="{9D8B030D-6E8A-4147-A177-3AD203B41FA5}">
                      <a16:colId xmlns:a16="http://schemas.microsoft.com/office/drawing/2014/main" val="974710626"/>
                    </a:ext>
                  </a:extLst>
                </a:gridCol>
                <a:gridCol w="1131926">
                  <a:extLst>
                    <a:ext uri="{9D8B030D-6E8A-4147-A177-3AD203B41FA5}">
                      <a16:colId xmlns:a16="http://schemas.microsoft.com/office/drawing/2014/main" val="5571828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“Parameters”/data “degradation”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100%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75%</a:t>
                      </a:r>
                      <a:endParaRPr lang="en-US" dirty="0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50%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25%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8961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Nb</a:t>
                      </a:r>
                      <a:r>
                        <a:rPr lang="en-US" dirty="0" smtClean="0"/>
                        <a:t> of sites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3000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2000</a:t>
                      </a:r>
                      <a:endParaRPr lang="en-US" dirty="0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1000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500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52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Nb</a:t>
                      </a:r>
                      <a:r>
                        <a:rPr lang="en-US" dirty="0" smtClean="0"/>
                        <a:t> of</a:t>
                      </a:r>
                      <a:r>
                        <a:rPr lang="en-US" baseline="0" dirty="0" smtClean="0"/>
                        <a:t> missing</a:t>
                      </a:r>
                      <a:r>
                        <a:rPr lang="en-US" dirty="0" smtClean="0"/>
                        <a:t> predictors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6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53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Noise on temperature</a:t>
                      </a:r>
                      <a:r>
                        <a:rPr lang="en-US" baseline="0" dirty="0" smtClean="0"/>
                        <a:t> </a:t>
                      </a:r>
                      <a:br>
                        <a:rPr lang="en-US" baseline="0" dirty="0" smtClean="0"/>
                      </a:br>
                      <a:r>
                        <a:rPr lang="en-US" baseline="0" dirty="0" smtClean="0"/>
                        <a:t>(</a:t>
                      </a:r>
                      <a:r>
                        <a:rPr lang="en-GB" sz="1800" dirty="0" smtClean="0">
                          <a:effectLst/>
                          <a:sym typeface="Symbol" panose="05050102010706020507" pitchFamily="18" charset="2"/>
                        </a:rPr>
                        <a:t></a:t>
                      </a:r>
                      <a:r>
                        <a:rPr lang="en-GB" sz="1800" dirty="0" smtClean="0">
                          <a:effectLst/>
                        </a:rPr>
                        <a:t> = degree)</a:t>
                      </a:r>
                      <a:endParaRPr lang="en-US" sz="28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1.5</a:t>
                      </a:r>
                      <a:endParaRPr lang="en-US" dirty="0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4.5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91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Misdetection 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(</a:t>
                      </a:r>
                      <a:r>
                        <a:rPr lang="en-GB" sz="1800" dirty="0" smtClean="0">
                          <a:effectLst/>
                        </a:rPr>
                        <a:t>% of presences randomly turned into absences</a:t>
                      </a:r>
                      <a:r>
                        <a:rPr lang="en-US" sz="1800" dirty="0" smtClean="0">
                          <a:effectLst/>
                        </a:rPr>
                        <a:t>)</a:t>
                      </a:r>
                      <a:endParaRPr lang="en-US" sz="28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15</a:t>
                      </a:r>
                      <a:endParaRPr lang="en-US" dirty="0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30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45</a:t>
                      </a:r>
                      <a:endParaRPr 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4542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Abs. due to dispersal 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(</a:t>
                      </a:r>
                      <a:r>
                        <a:rPr lang="en-GB" sz="1800" dirty="0" smtClean="0">
                          <a:effectLst/>
                        </a:rPr>
                        <a:t>NA points due to dispersal limitation turned into absences)</a:t>
                      </a:r>
                      <a:endParaRPr lang="en-US" sz="28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yes/no</a:t>
                      </a: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yes/no</a:t>
                      </a:r>
                    </a:p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yes/no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yes/no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054443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1020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Dispersal limitation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If we want to assess the impact of absences due to dispersal limitation (NAs), we will compare different dataset sizes</a:t>
            </a:r>
          </a:p>
          <a:p>
            <a:r>
              <a:rPr lang="en-US" dirty="0" smtClean="0"/>
              <a:t>If </a:t>
            </a:r>
            <a:r>
              <a:rPr lang="en-US" dirty="0" err="1"/>
              <a:t>na.to.absence</a:t>
            </a:r>
            <a:r>
              <a:rPr lang="en-US" dirty="0"/>
              <a:t> </a:t>
            </a:r>
            <a:r>
              <a:rPr lang="en-US" dirty="0" smtClean="0"/>
              <a:t>= T, we test add noise due to dispersal limitation, in other words we transform </a:t>
            </a:r>
            <a:r>
              <a:rPr lang="en-US" dirty="0" err="1" smtClean="0"/>
              <a:t>Nas</a:t>
            </a:r>
            <a:r>
              <a:rPr lang="en-US" dirty="0" smtClean="0"/>
              <a:t> in 0</a:t>
            </a:r>
          </a:p>
          <a:p>
            <a:r>
              <a:rPr lang="en-US" dirty="0" smtClean="0"/>
              <a:t>If </a:t>
            </a:r>
            <a:r>
              <a:rPr lang="en-US" dirty="0" err="1"/>
              <a:t>na.to.absence</a:t>
            </a:r>
            <a:r>
              <a:rPr lang="en-US" dirty="0"/>
              <a:t> </a:t>
            </a:r>
            <a:r>
              <a:rPr lang="en-US" dirty="0" smtClean="0"/>
              <a:t>= F, we have no “false” information coming from dispersal limitation, so we remove NAs per taxa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899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815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dirty="0" smtClean="0">
                <a:latin typeface="Galvji" panose="020B0504020202020204" pitchFamily="34" charset="77"/>
              </a:rPr>
              <a:t>Workflow</a:t>
            </a:r>
            <a:br>
              <a:rPr lang="en-US" dirty="0" smtClean="0">
                <a:latin typeface="Galvji" panose="020B0504020202020204" pitchFamily="34" charset="77"/>
              </a:rPr>
            </a:br>
            <a:endParaRPr lang="en-US" dirty="0">
              <a:latin typeface="Galvji" panose="020B0504020202020204" pitchFamily="34" charset="77"/>
            </a:endParaRPr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DEUS 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ECF3A-10B0-45FD-B817-2BE51D49F984}" type="slidenum">
              <a:rPr lang="en-US" smtClean="0"/>
              <a:t>4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37455" y="900940"/>
            <a:ext cx="1876722" cy="3412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000">
                <a:solidFill>
                  <a:schemeClr val="bg1"/>
                </a:solidFill>
                <a:latin typeface="Galvji" panose="020B05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b="1" dirty="0" smtClean="0">
                <a:solidFill>
                  <a:schemeClr val="tx1"/>
                </a:solidFill>
              </a:rPr>
              <a:t>Input Data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18394" y="840200"/>
            <a:ext cx="1391919" cy="4616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000" b="1">
                <a:solidFill>
                  <a:schemeClr val="tx1"/>
                </a:solidFill>
                <a:latin typeface="Galvji" panose="020B05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 smtClean="0"/>
              <a:t>Models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744004" y="842413"/>
            <a:ext cx="17823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Galvji" panose="020B0504020202020204" pitchFamily="34" charset="0"/>
                <a:cs typeface="Arial" panose="020B0604020202020204" pitchFamily="34" charset="0"/>
              </a:rPr>
              <a:t>Output Data</a:t>
            </a:r>
            <a:endParaRPr lang="en-US" sz="2400" b="1" dirty="0">
              <a:latin typeface="Galvji" panose="020B05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2494066" y="1453691"/>
            <a:ext cx="8583356" cy="1483145"/>
            <a:chOff x="2671866" y="1645546"/>
            <a:chExt cx="8583356" cy="1483145"/>
          </a:xfrm>
        </p:grpSpPr>
        <p:sp>
          <p:nvSpPr>
            <p:cNvPr id="10" name="Pentagon 9"/>
            <p:cNvSpPr/>
            <p:nvPr/>
          </p:nvSpPr>
          <p:spPr>
            <a:xfrm>
              <a:off x="5653025" y="1665651"/>
              <a:ext cx="2651760" cy="1463040"/>
            </a:xfrm>
            <a:prstGeom prst="homePlate">
              <a:avLst>
                <a:gd name="adj" fmla="val 17105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200"/>
                </a:spcAft>
              </a:pPr>
              <a:r>
                <a:rPr lang="en-US" sz="1600" b="1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Streambugs</a:t>
              </a:r>
            </a:p>
            <a:p>
              <a:pPr marL="285750" indent="-173038">
                <a:buFont typeface="Arial" panose="020B0604020202020204" pitchFamily="34" charset="0"/>
                <a:buChar char="•"/>
                <a:tabLst>
                  <a:tab pos="1250950" algn="l"/>
                </a:tabLst>
              </a:pPr>
              <a:r>
                <a:rPr lang="en-US" sz="14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ecological preferences</a:t>
              </a:r>
            </a:p>
            <a:p>
              <a:pPr marL="285750" indent="-173038">
                <a:buFont typeface="Arial" panose="020B0604020202020204" pitchFamily="34" charset="0"/>
                <a:buChar char="•"/>
                <a:tabLst>
                  <a:tab pos="1250950" algn="l"/>
                </a:tabLst>
              </a:pPr>
              <a:r>
                <a:rPr lang="en-US" sz="14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dispersal limitation</a:t>
              </a:r>
            </a:p>
            <a:p>
              <a:pPr marL="285750" indent="-173038">
                <a:buFont typeface="Arial" panose="020B0604020202020204" pitchFamily="34" charset="0"/>
                <a:buChar char="•"/>
                <a:tabLst>
                  <a:tab pos="1250950" algn="l"/>
                </a:tabLst>
              </a:pPr>
              <a:r>
                <a:rPr lang="en-US" sz="14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biotic </a:t>
              </a:r>
              <a:r>
                <a:rPr lang="en-US" sz="14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interactions</a:t>
              </a:r>
            </a:p>
          </p:txBody>
        </p:sp>
        <p:sp>
          <p:nvSpPr>
            <p:cNvPr id="13" name="Pentagon 12"/>
            <p:cNvSpPr/>
            <p:nvPr/>
          </p:nvSpPr>
          <p:spPr>
            <a:xfrm>
              <a:off x="8603462" y="1645546"/>
              <a:ext cx="2651760" cy="1463040"/>
            </a:xfrm>
            <a:prstGeom prst="homePlate">
              <a:avLst>
                <a:gd name="adj" fmla="val 20395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presence-absence </a:t>
              </a:r>
              <a:r>
                <a: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/>
              </a:r>
              <a:br>
                <a: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</a:br>
              <a: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35 “virtual” taxa</a:t>
              </a:r>
              <a:endParaRPr lang="en-US" sz="1600" dirty="0">
                <a:solidFill>
                  <a:schemeClr val="bg1"/>
                </a:solidFill>
                <a:latin typeface="Galvji" panose="020B05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Pentagon 14"/>
            <p:cNvSpPr/>
            <p:nvPr/>
          </p:nvSpPr>
          <p:spPr>
            <a:xfrm>
              <a:off x="2671866" y="1665651"/>
              <a:ext cx="2651760" cy="1463040"/>
            </a:xfrm>
            <a:prstGeom prst="homePlate">
              <a:avLst>
                <a:gd name="adj" fmla="val 17106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8</a:t>
              </a:r>
              <a: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environmental </a:t>
              </a:r>
              <a: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/>
              </a:r>
              <a:b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</a:br>
              <a: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predictors</a:t>
              </a:r>
              <a:endParaRPr lang="en-US" sz="1600" dirty="0">
                <a:solidFill>
                  <a:schemeClr val="bg1"/>
                </a:solidFill>
                <a:latin typeface="Galvji" panose="020B05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3" name="Picture 3">
            <a:extLst>
              <a:ext uri="{FF2B5EF4-FFF2-40B4-BE49-F238E27FC236}">
                <a16:creationId xmlns:a16="http://schemas.microsoft.com/office/drawing/2014/main" id="{33AC184E-87C7-0EF4-3241-D63D3E477BE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968" y="436323"/>
            <a:ext cx="923032" cy="19844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1FF070A2-01F6-794E-6535-C7F6261F06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988" y="296755"/>
            <a:ext cx="1061044" cy="387452"/>
          </a:xfrm>
          <a:prstGeom prst="rect">
            <a:avLst/>
          </a:prstGeom>
        </p:spPr>
      </p:pic>
      <p:cxnSp>
        <p:nvCxnSpPr>
          <p:cNvPr id="31" name="Connecteur droit 4">
            <a:extLst>
              <a:ext uri="{FF2B5EF4-FFF2-40B4-BE49-F238E27FC236}">
                <a16:creationId xmlns:a16="http://schemas.microsoft.com/office/drawing/2014/main" id="{A5601D80-9D67-4C3D-5DAF-C6FDFAF80ECD}"/>
              </a:ext>
            </a:extLst>
          </p:cNvPr>
          <p:cNvCxnSpPr>
            <a:cxnSpLocks/>
          </p:cNvCxnSpPr>
          <p:nvPr/>
        </p:nvCxnSpPr>
        <p:spPr>
          <a:xfrm>
            <a:off x="2238695" y="1081263"/>
            <a:ext cx="0" cy="51206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9480" y="1641584"/>
            <a:ext cx="16102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Galvji" panose="020B0504020202020204" pitchFamily="34" charset="77"/>
                <a:cs typeface="Arial" panose="020B0604020202020204" pitchFamily="34" charset="0"/>
              </a:rPr>
              <a:t>Artificial Data</a:t>
            </a:r>
          </a:p>
          <a:p>
            <a:r>
              <a:rPr lang="en-US" sz="2000" b="1" dirty="0" smtClean="0">
                <a:latin typeface="Galvji" panose="020B0504020202020204" pitchFamily="34" charset="77"/>
                <a:cs typeface="Arial" panose="020B0604020202020204" pitchFamily="34" charset="0"/>
              </a:rPr>
              <a:t>Generation</a:t>
            </a:r>
            <a:endParaRPr lang="en-US" sz="2000" b="1" dirty="0">
              <a:latin typeface="Galvji" panose="020B0504020202020204" pitchFamily="34" charset="77"/>
              <a:cs typeface="Arial" panose="020B0604020202020204" pitchFamily="3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49480" y="3222223"/>
            <a:ext cx="16102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Galvji" panose="020B0504020202020204" pitchFamily="34" charset="77"/>
                <a:cs typeface="Arial" panose="020B0604020202020204" pitchFamily="34" charset="0"/>
              </a:rPr>
              <a:t>Data Limitation</a:t>
            </a:r>
          </a:p>
          <a:p>
            <a:r>
              <a:rPr lang="en-US" sz="2000" b="1" dirty="0" smtClean="0">
                <a:latin typeface="Galvji" panose="020B0504020202020204" pitchFamily="34" charset="77"/>
                <a:cs typeface="Arial" panose="020B0604020202020204" pitchFamily="34" charset="0"/>
              </a:rPr>
              <a:t>Scenarios</a:t>
            </a:r>
            <a:endParaRPr lang="en-US" b="1" dirty="0">
              <a:latin typeface="Galvji" panose="020B0504020202020204" pitchFamily="34" charset="77"/>
              <a:cs typeface="Arial" panose="020B0604020202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96317" y="4936288"/>
            <a:ext cx="16102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Galvji" panose="020B0504020202020204" pitchFamily="34" charset="77"/>
                <a:cs typeface="Arial" panose="020B0604020202020204" pitchFamily="34" charset="0"/>
              </a:rPr>
              <a:t>SDMs Evaluation</a:t>
            </a:r>
            <a:endParaRPr lang="en-US" b="1" dirty="0">
              <a:latin typeface="Galvji" panose="020B0504020202020204" pitchFamily="34" charset="77"/>
              <a:cs typeface="Arial" panose="020B0604020202020204" pitchFamily="34" charset="0"/>
            </a:endParaRPr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rgbClr val="7030A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6099432">
            <a:off x="11519145" y="6233687"/>
            <a:ext cx="537185" cy="379807"/>
          </a:xfrm>
          <a:prstGeom prst="rect">
            <a:avLst/>
          </a:prstGeom>
        </p:spPr>
      </p:pic>
      <p:cxnSp>
        <p:nvCxnSpPr>
          <p:cNvPr id="43" name="Connecteur droit 8">
            <a:extLst>
              <a:ext uri="{FF2B5EF4-FFF2-40B4-BE49-F238E27FC236}">
                <a16:creationId xmlns:a16="http://schemas.microsoft.com/office/drawing/2014/main" id="{4BB7996A-92C0-B07B-0850-938073871F4A}"/>
              </a:ext>
            </a:extLst>
          </p:cNvPr>
          <p:cNvCxnSpPr/>
          <p:nvPr/>
        </p:nvCxnSpPr>
        <p:spPr>
          <a:xfrm>
            <a:off x="565508" y="1246324"/>
            <a:ext cx="10981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5" name="Group 44"/>
          <p:cNvGrpSpPr/>
          <p:nvPr/>
        </p:nvGrpSpPr>
        <p:grpSpPr>
          <a:xfrm>
            <a:off x="2494066" y="4604431"/>
            <a:ext cx="8583356" cy="1468591"/>
            <a:chOff x="2671866" y="4604431"/>
            <a:chExt cx="8583356" cy="1468591"/>
          </a:xfrm>
        </p:grpSpPr>
        <p:grpSp>
          <p:nvGrpSpPr>
            <p:cNvPr id="18" name="Group 17"/>
            <p:cNvGrpSpPr/>
            <p:nvPr/>
          </p:nvGrpSpPr>
          <p:grpSpPr>
            <a:xfrm>
              <a:off x="2671866" y="4608620"/>
              <a:ext cx="8583356" cy="1464402"/>
              <a:chOff x="1998102" y="4716036"/>
              <a:chExt cx="8583356" cy="1464402"/>
            </a:xfrm>
          </p:grpSpPr>
          <p:sp>
            <p:nvSpPr>
              <p:cNvPr id="21" name="Pentagon 20"/>
              <p:cNvSpPr/>
              <p:nvPr/>
            </p:nvSpPr>
            <p:spPr>
              <a:xfrm>
                <a:off x="4978396" y="4717398"/>
                <a:ext cx="2651760" cy="1463040"/>
              </a:xfrm>
              <a:prstGeom prst="homePlate">
                <a:avLst>
                  <a:gd name="adj" fmla="val 23684"/>
                </a:avLst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Aft>
                    <a:spcPts val="1200"/>
                  </a:spcAft>
                </a:pP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Species Distribution Models (SDMs)</a:t>
                </a:r>
              </a:p>
              <a:p>
                <a:pPr algn="ctr">
                  <a:spcAft>
                    <a:spcPts val="1200"/>
                  </a:spcAft>
                </a:pPr>
                <a:r>
                  <a:rPr lang="en-US" sz="1600" b="1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GLM, GAM, RF, ANN</a:t>
                </a:r>
              </a:p>
            </p:txBody>
          </p:sp>
          <p:sp>
            <p:nvSpPr>
              <p:cNvPr id="24" name="Pentagon 23"/>
              <p:cNvSpPr/>
              <p:nvPr/>
            </p:nvSpPr>
            <p:spPr>
              <a:xfrm>
                <a:off x="7929698" y="4716036"/>
                <a:ext cx="2651760" cy="1463040"/>
              </a:xfrm>
              <a:prstGeom prst="homePlate">
                <a:avLst>
                  <a:gd name="adj" fmla="val 22588"/>
                </a:avLst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p</a:t>
                </a: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robability of </a:t>
                </a:r>
                <a:b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</a:b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occurrence</a:t>
                </a:r>
                <a:endPara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Pentagon 25"/>
              <p:cNvSpPr/>
              <p:nvPr/>
            </p:nvSpPr>
            <p:spPr>
              <a:xfrm>
                <a:off x="1998102" y="5493276"/>
                <a:ext cx="2651760" cy="685800"/>
              </a:xfrm>
              <a:prstGeom prst="homePlate">
                <a:avLst>
                  <a:gd name="adj" fmla="val 16009"/>
                </a:avLst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environmental </a:t>
                </a:r>
                <a:b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</a:b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predictors</a:t>
                </a:r>
              </a:p>
            </p:txBody>
          </p:sp>
        </p:grpSp>
        <p:sp>
          <p:nvSpPr>
            <p:cNvPr id="44" name="Pentagon 43"/>
            <p:cNvSpPr/>
            <p:nvPr/>
          </p:nvSpPr>
          <p:spPr>
            <a:xfrm>
              <a:off x="2671866" y="4604431"/>
              <a:ext cx="2651760" cy="685800"/>
            </a:xfrm>
            <a:prstGeom prst="homePlate">
              <a:avLst>
                <a:gd name="adj" fmla="val 16009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p</a:t>
              </a:r>
              <a: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resence-absence virtual taxa</a:t>
              </a:r>
              <a:endParaRPr lang="en-US" sz="1600" dirty="0">
                <a:solidFill>
                  <a:schemeClr val="bg1"/>
                </a:solidFill>
                <a:latin typeface="Galvji" panose="020B05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3560269" y="3121652"/>
            <a:ext cx="6294665" cy="1296475"/>
            <a:chOff x="4171949" y="3088664"/>
            <a:chExt cx="6294665" cy="1296475"/>
          </a:xfrm>
        </p:grpSpPr>
        <p:grpSp>
          <p:nvGrpSpPr>
            <p:cNvPr id="32" name="Group 31"/>
            <p:cNvGrpSpPr/>
            <p:nvPr/>
          </p:nvGrpSpPr>
          <p:grpSpPr>
            <a:xfrm>
              <a:off x="4171949" y="3088664"/>
              <a:ext cx="6294665" cy="1296475"/>
              <a:chOff x="3517639" y="3350559"/>
              <a:chExt cx="5164953" cy="932687"/>
            </a:xfrm>
          </p:grpSpPr>
          <p:sp>
            <p:nvSpPr>
              <p:cNvPr id="27" name="Pentagon 26"/>
              <p:cNvSpPr/>
              <p:nvPr/>
            </p:nvSpPr>
            <p:spPr>
              <a:xfrm rot="5400000">
                <a:off x="5633772" y="1234426"/>
                <a:ext cx="932687" cy="5164953"/>
              </a:xfrm>
              <a:prstGeom prst="homePlate">
                <a:avLst>
                  <a:gd name="adj" fmla="val 30609"/>
                </a:avLst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3573642" y="3452112"/>
                <a:ext cx="2408992" cy="243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1. reduce </a:t>
                </a:r>
                <a:r>
                  <a:rPr lang="en-US" sz="1600" dirty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dataset </a:t>
                </a: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size</a:t>
                </a:r>
                <a:endPara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584636" y="3737023"/>
                <a:ext cx="2308766" cy="243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2. remove </a:t>
                </a: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predictors</a:t>
                </a:r>
                <a:endPara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5690346" y="3458409"/>
                <a:ext cx="2740387" cy="243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600" dirty="0" smtClean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3. add </a:t>
                </a:r>
                <a:r>
                  <a:rPr lang="en-US" sz="1600" dirty="0">
                    <a:solidFill>
                      <a:schemeClr val="bg1"/>
                    </a:solidFill>
                    <a:latin typeface="Galvji" panose="020B0504020202020204" pitchFamily="34" charset="0"/>
                    <a:cs typeface="Arial" panose="020B0604020202020204" pitchFamily="34" charset="0"/>
                  </a:rPr>
                  <a:t>noise on predictor</a:t>
                </a:r>
              </a:p>
            </p:txBody>
          </p:sp>
        </p:grpSp>
        <p:sp>
          <p:nvSpPr>
            <p:cNvPr id="33" name="TextBox 32"/>
            <p:cNvSpPr txBox="1"/>
            <p:nvPr/>
          </p:nvSpPr>
          <p:spPr>
            <a:xfrm>
              <a:off x="6819885" y="3621644"/>
              <a:ext cx="358143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4. add </a:t>
              </a:r>
              <a:r>
                <a:rPr lang="en-US" sz="1600" dirty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noise on </a:t>
              </a:r>
              <a:r>
                <a:rPr lang="en-US" sz="1600" dirty="0" smtClean="0">
                  <a:solidFill>
                    <a:schemeClr val="bg1"/>
                  </a:solidFill>
                  <a:latin typeface="Galvji" panose="020B0504020202020204" pitchFamily="34" charset="0"/>
                  <a:cs typeface="Arial" panose="020B0604020202020204" pitchFamily="34" charset="0"/>
                </a:rPr>
                <a:t>response variable</a:t>
              </a:r>
              <a:endParaRPr lang="en-US" sz="1600" dirty="0">
                <a:solidFill>
                  <a:schemeClr val="bg1"/>
                </a:solidFill>
                <a:latin typeface="Galvji" panose="020B05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075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</Words>
  <Application>Microsoft Office PowerPoint</Application>
  <PresentationFormat>Widescreen</PresentationFormat>
  <Paragraphs>62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Calibri Light</vt:lpstr>
      <vt:lpstr>Galvji</vt:lpstr>
      <vt:lpstr>Symbol</vt:lpstr>
      <vt:lpstr>Times New Roman</vt:lpstr>
      <vt:lpstr>Office Theme</vt:lpstr>
      <vt:lpstr>Support analysis of noise scenarios</vt:lpstr>
      <vt:lpstr>Continuous degradation of data</vt:lpstr>
      <vt:lpstr>Dispersal limitation</vt:lpstr>
      <vt:lpstr>Workflow </vt:lpstr>
    </vt:vector>
  </TitlesOfParts>
  <Company>ETH Zuerich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Support annalysis of nois</dc:title>
  <dc:creator>Chollet Ramampiandra, Emma</dc:creator>
  <cp:lastModifiedBy>Chollet Ramampiandra, Emma</cp:lastModifiedBy>
  <cp:revision>17</cp:revision>
  <dcterms:created xsi:type="dcterms:W3CDTF">2024-03-30T16:47:27Z</dcterms:created>
  <dcterms:modified xsi:type="dcterms:W3CDTF">2025-07-01T14:16:26Z</dcterms:modified>
</cp:coreProperties>
</file>